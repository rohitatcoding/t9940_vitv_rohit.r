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51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6C00-DAB1-1DC1-916E-1B515529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6E2ED-104F-7DD2-78AA-746802711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C9FD6-2D3D-611F-6599-730240C8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65DA4-8335-CD0C-B691-09C367657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22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1797" y="2717800"/>
            <a:ext cx="4754880" cy="475488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  <p:txBody>
          <a:bodyPr/>
          <a:lstStyle/>
          <a:p>
            <a:pPr algn="just"/>
            <a:r>
              <a:rPr lang="en-GB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ROHIT.R</a:t>
            </a:r>
          </a:p>
          <a:p>
            <a:pPr algn="just"/>
            <a:r>
              <a:rPr lang="en-GB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(T9940)</a:t>
            </a:r>
          </a:p>
          <a:p>
            <a:pPr algn="just"/>
            <a:r>
              <a:rPr lang="en-GB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 VELLORE</a:t>
            </a:r>
          </a:p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3614058" y="0"/>
            <a:ext cx="5230359" cy="3429000"/>
          </a:xfrm>
          <a:prstGeom prst="roundRect">
            <a:avLst>
              <a:gd name="adj" fmla="val 12663"/>
            </a:avLst>
          </a:prstGeom>
          <a:solidFill>
            <a:srgbClr val="0F2B4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algn="just"/>
            <a:r>
              <a:rPr lang="en-GB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GB" sz="60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</a:t>
            </a:r>
            <a:r>
              <a:rPr lang="en-GB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REVIEW</a:t>
            </a:r>
          </a:p>
          <a:p>
            <a:pPr algn="just"/>
            <a:r>
              <a:rPr lang="en-GB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P1:RAG</a:t>
            </a:r>
          </a:p>
          <a:p>
            <a:pPr algn="just"/>
            <a:r>
              <a:rPr lang="en-GB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P2:AGENTIC AI </a:t>
            </a:r>
            <a:endParaRPr lang="en-IN" sz="6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47D27-D888-E83F-8017-ECABF634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13773E-DEE2-0F5A-90F1-91F9798F74C3}"/>
              </a:ext>
            </a:extLst>
          </p:cNvPr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229FE2-7821-CE28-1190-95AB51B654F0}"/>
              </a:ext>
            </a:extLst>
          </p:cNvPr>
          <p:cNvSpPr txBox="1"/>
          <p:nvPr/>
        </p:nvSpPr>
        <p:spPr>
          <a:xfrm>
            <a:off x="457200" y="310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RETRIEVAL-AUGMENTED GENERATION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48CAF5-8F14-F494-14C1-18979B516460}"/>
              </a:ext>
            </a:extLst>
          </p:cNvPr>
          <p:cNvSpPr txBox="1"/>
          <p:nvPr/>
        </p:nvSpPr>
        <p:spPr>
          <a:xfrm>
            <a:off x="457200" y="5486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Ontology-Aware Clinical RAG System for Safe and Evidence-Grounded Medical Information Retrieval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294E077-75CF-D051-BCA0-A867BFF14C14}"/>
              </a:ext>
            </a:extLst>
          </p:cNvPr>
          <p:cNvSpPr/>
          <p:nvPr/>
        </p:nvSpPr>
        <p:spPr>
          <a:xfrm>
            <a:off x="11109960" y="384048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C89D10C-FAE8-85F7-D7AF-FCCCCCEE2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11" y="471099"/>
            <a:ext cx="447690" cy="447690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6DF1D460-4F24-EA6D-1544-30EBEFEB347B}"/>
              </a:ext>
            </a:extLst>
          </p:cNvPr>
          <p:cNvSpPr/>
          <p:nvPr/>
        </p:nvSpPr>
        <p:spPr>
          <a:xfrm>
            <a:off x="63645" y="1342462"/>
            <a:ext cx="5230359" cy="5528242"/>
          </a:xfrm>
          <a:prstGeom prst="roundRect">
            <a:avLst>
              <a:gd name="adj" fmla="val 12663"/>
            </a:avLst>
          </a:prstGeom>
          <a:solidFill>
            <a:srgbClr val="0F2B4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4933A86-8601-3987-FD0D-00CE402070F7}"/>
              </a:ext>
            </a:extLst>
          </p:cNvPr>
          <p:cNvSpPr/>
          <p:nvPr/>
        </p:nvSpPr>
        <p:spPr>
          <a:xfrm>
            <a:off x="739920" y="1367209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EE6D734-4399-8BA7-AD52-3C1F161D8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94" y="1409374"/>
            <a:ext cx="359358" cy="35935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0E60AAA-A98F-69EF-A740-85C5836959C4}"/>
              </a:ext>
            </a:extLst>
          </p:cNvPr>
          <p:cNvSpPr txBox="1"/>
          <p:nvPr/>
        </p:nvSpPr>
        <p:spPr>
          <a:xfrm>
            <a:off x="1279150" y="13395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E240DAF-A973-8FCC-D9D0-8936A97B6CD4}"/>
              </a:ext>
            </a:extLst>
          </p:cNvPr>
          <p:cNvSpPr txBox="1"/>
          <p:nvPr/>
        </p:nvSpPr>
        <p:spPr>
          <a:xfrm>
            <a:off x="337958" y="1768732"/>
            <a:ext cx="5084062" cy="5020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400" b="1" dirty="0">
                <a:solidFill>
                  <a:schemeClr val="bg1"/>
                </a:solidFill>
              </a:rPr>
              <a:t>Semantic Gap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General embedding models struggle with clinical abbreviations, synonyms, disease hierarchies, and related medical concepts.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Retrieval Misses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Dense-only retrieval can miss exact drug names, diagnosis codes, guideline terms, and keyword-specific clinical evidence.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Confusable Evidence: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Clinically similar documents may appear relevant but contain incorrect, incomplete, or contradictory information.</a:t>
            </a:r>
          </a:p>
          <a:p>
            <a:pPr lvl="0"/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Weak Training Data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Random negatives and binary relevance labels do not teach retrieval models to distinguish subtle clinical differences.</a:t>
            </a:r>
          </a:p>
          <a:p>
            <a:pPr lvl="0"/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Unsafe RAG Responses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Poor retrieval leads to hallucinated answers, unsupported claims, missing citations, and false confidence.</a:t>
            </a:r>
          </a:p>
          <a:p>
            <a:pPr lvl="0"/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Project Need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Build an ontology-aware hybrid Clinical RAG system that retrieves relevant evidence, </a:t>
            </a:r>
            <a:r>
              <a:rPr lang="en-IN" sz="1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reranks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results, provides citations, and abstains when sufficient evidence is unavailable.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3C15607-05AA-889B-C515-2D4517C6A103}"/>
              </a:ext>
            </a:extLst>
          </p:cNvPr>
          <p:cNvSpPr txBox="1"/>
          <p:nvPr/>
        </p:nvSpPr>
        <p:spPr>
          <a:xfrm>
            <a:off x="5422020" y="1509265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14B2E47-1444-109C-8015-AB6379D70FEE}"/>
              </a:ext>
            </a:extLst>
          </p:cNvPr>
          <p:cNvSpPr/>
          <p:nvPr/>
        </p:nvSpPr>
        <p:spPr>
          <a:xfrm>
            <a:off x="5650992" y="2423160"/>
            <a:ext cx="0" cy="314553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8FB88AD-C060-30D3-C323-3072CDB183F1}"/>
              </a:ext>
            </a:extLst>
          </p:cNvPr>
          <p:cNvSpPr/>
          <p:nvPr/>
        </p:nvSpPr>
        <p:spPr>
          <a:xfrm>
            <a:off x="5468112" y="22402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C3251D0-7662-2985-1995-CAD53B4327E7}"/>
              </a:ext>
            </a:extLst>
          </p:cNvPr>
          <p:cNvSpPr txBox="1"/>
          <p:nvPr/>
        </p:nvSpPr>
        <p:spPr>
          <a:xfrm>
            <a:off x="5468112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72FCB50-E559-2C4D-2AE3-E3C1B921A684}"/>
              </a:ext>
            </a:extLst>
          </p:cNvPr>
          <p:cNvSpPr txBox="1"/>
          <p:nvPr/>
        </p:nvSpPr>
        <p:spPr>
          <a:xfrm>
            <a:off x="6089904" y="218541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solidFill>
                  <a:schemeClr val="bg1"/>
                </a:solidFill>
              </a:rPr>
              <a:t>Prepare a Clinical Knowledge Corpus</a:t>
            </a: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Collect, clean, chunk, deduplicate, and tag trusted clinical documents with source metadata.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A9032EB-12FB-8BF9-1BF6-9ED249213D46}"/>
              </a:ext>
            </a:extLst>
          </p:cNvPr>
          <p:cNvSpPr/>
          <p:nvPr/>
        </p:nvSpPr>
        <p:spPr>
          <a:xfrm>
            <a:off x="5468112" y="302666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BF0E9E8-73D9-8EB2-6B1C-25C3DB921AA9}"/>
              </a:ext>
            </a:extLst>
          </p:cNvPr>
          <p:cNvSpPr txBox="1"/>
          <p:nvPr/>
        </p:nvSpPr>
        <p:spPr>
          <a:xfrm>
            <a:off x="5468112" y="3026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0E2C0DB-DB5F-2DED-9C01-D0B58C070394}"/>
              </a:ext>
            </a:extLst>
          </p:cNvPr>
          <p:cNvSpPr txBox="1"/>
          <p:nvPr/>
        </p:nvSpPr>
        <p:spPr>
          <a:xfrm>
            <a:off x="6089904" y="29718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solidFill>
                  <a:schemeClr val="bg1"/>
                </a:solidFill>
              </a:rPr>
              <a:t>Create Ontology-Aware Retrieval Supervision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Map documents to SNOMED CT, </a:t>
            </a:r>
            <a:r>
              <a:rPr lang="en-IN" sz="1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MeSH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ICD, </a:t>
            </a:r>
            <a:r>
              <a:rPr lang="en-IN" sz="1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RxNorm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and UMLS concepts; generate queries and graded relevance labels.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2855270-73D6-752F-AF08-77652C9DD30A}"/>
              </a:ext>
            </a:extLst>
          </p:cNvPr>
          <p:cNvSpPr/>
          <p:nvPr/>
        </p:nvSpPr>
        <p:spPr>
          <a:xfrm>
            <a:off x="5468112" y="38130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3EEC72B-447A-70C6-20F2-C02D5B5BAE03}"/>
              </a:ext>
            </a:extLst>
          </p:cNvPr>
          <p:cNvSpPr txBox="1"/>
          <p:nvPr/>
        </p:nvSpPr>
        <p:spPr>
          <a:xfrm>
            <a:off x="5468112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A290317-244B-83EC-863F-A943609D1ED2}"/>
              </a:ext>
            </a:extLst>
          </p:cNvPr>
          <p:cNvSpPr txBox="1"/>
          <p:nvPr/>
        </p:nvSpPr>
        <p:spPr>
          <a:xfrm>
            <a:off x="6089904" y="375818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solidFill>
                  <a:schemeClr val="bg1"/>
                </a:solidFill>
              </a:rPr>
              <a:t>Fine-Tune Domain-Adaptive Embeddings</a:t>
            </a:r>
            <a:br>
              <a:rPr lang="en-IN" sz="1400" dirty="0"/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Adapt BGE/E5 using clinical query–passage pairs and difficult, clinically similar negatives.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DC2E259-5F20-50A7-DF12-810E53B1274A}"/>
              </a:ext>
            </a:extLst>
          </p:cNvPr>
          <p:cNvSpPr/>
          <p:nvPr/>
        </p:nvSpPr>
        <p:spPr>
          <a:xfrm>
            <a:off x="5468112" y="45994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6215E4E-D07D-3D31-5F2F-367D15146630}"/>
              </a:ext>
            </a:extLst>
          </p:cNvPr>
          <p:cNvSpPr txBox="1"/>
          <p:nvPr/>
        </p:nvSpPr>
        <p:spPr>
          <a:xfrm>
            <a:off x="5468112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16A6296-AC1C-9558-A8CD-BE97B6052A44}"/>
              </a:ext>
            </a:extLst>
          </p:cNvPr>
          <p:cNvSpPr txBox="1"/>
          <p:nvPr/>
        </p:nvSpPr>
        <p:spPr>
          <a:xfrm>
            <a:off x="6089904" y="454456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solidFill>
                  <a:schemeClr val="bg1"/>
                </a:solidFill>
              </a:rPr>
              <a:t>Build a Hybrid Retrieval Pipeline</a:t>
            </a:r>
            <a:br>
              <a:rPr lang="en-IN" sz="1400" dirty="0"/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Combine BM25 and dense vector search, fuse rankings, and </a:t>
            </a:r>
            <a:r>
              <a:rPr lang="en-IN" sz="1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rerank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results using a clinical cross-encoder.</a:t>
            </a:r>
            <a:endParaRPr lang="en-US" sz="13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88F50586-608F-F5E7-9E1C-75838D30107E}"/>
              </a:ext>
            </a:extLst>
          </p:cNvPr>
          <p:cNvSpPr/>
          <p:nvPr/>
        </p:nvSpPr>
        <p:spPr>
          <a:xfrm>
            <a:off x="5468112" y="538581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DA3A912-7A1A-CD32-D155-E730BA8406A4}"/>
              </a:ext>
            </a:extLst>
          </p:cNvPr>
          <p:cNvSpPr txBox="1"/>
          <p:nvPr/>
        </p:nvSpPr>
        <p:spPr>
          <a:xfrm>
            <a:off x="5468112" y="5385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71AC88DE-0348-EAD3-433D-CEB6ED993625}"/>
              </a:ext>
            </a:extLst>
          </p:cNvPr>
          <p:cNvSpPr txBox="1"/>
          <p:nvPr/>
        </p:nvSpPr>
        <p:spPr>
          <a:xfrm>
            <a:off x="6089904" y="533095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solidFill>
                  <a:schemeClr val="bg1"/>
                </a:solidFill>
              </a:rPr>
              <a:t>Evaluate Grounded Clinical RAG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Measure retrieval accuracy, citation faithfulness, safety, latency, and abstention quality</a:t>
            </a:r>
            <a:endParaRPr lang="en-US" sz="13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F9B1AA7A-DA7C-9D70-92B8-792DE7992A79}"/>
              </a:ext>
            </a:extLst>
          </p:cNvPr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6268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10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RETRIEVAL-AUGMENTED GENERATION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Stack &amp; Impact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109960" y="384048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11" y="471099"/>
            <a:ext cx="447690" cy="447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25" y="1341973"/>
            <a:ext cx="223845" cy="2238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7824" y="1271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1664208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777240" y="1810512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20,000–50,000 de-identified clinical documents  →  10–20 LLM-synthesized queries each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8D1"/>
                </a:solidFill>
              </a:rPr>
              <a:t>Ontology-graded relevance labeling via SNOMED CT · MeSH · ICD · RxNorm · UMLS   |   Public refs: MTSamples, PMC-Patients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EC4B6"/>
                </a:solidFill>
              </a:rPr>
              <a:t>Relevance: graded hard negatives feed directly into Objectives 1–2 — corpus construction &amp; contrastive fine-tuning.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66344" y="30723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80713" y="307238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7824" y="305736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593634" y="3551065"/>
            <a:ext cx="3493008" cy="669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solidFill>
                  <a:schemeClr val="bg1"/>
                </a:solidFill>
              </a:rPr>
              <a:t>Data Processing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Clean, normalize, chunk, and tag clinical documents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79392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4332514" y="3536350"/>
            <a:ext cx="332841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00" dirty="0"/>
              <a:t> </a:t>
            </a:r>
            <a:r>
              <a:rPr lang="en-IN" sz="1600" dirty="0">
                <a:solidFill>
                  <a:schemeClr val="bg1"/>
                </a:solidFill>
              </a:rPr>
              <a:t>Clinical Ontologies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Map medical concepts, synonyms, codes, and relationships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101584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8266176" y="3520440"/>
            <a:ext cx="3474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solidFill>
                  <a:schemeClr val="bg1"/>
                </a:solidFill>
              </a:rPr>
              <a:t>Embedding Models</a:t>
            </a:r>
            <a:endParaRPr lang="en-US" sz="16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Train and evaluate clinical semantic embeddings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57200" y="4352544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500725" y="4306477"/>
            <a:ext cx="3447288" cy="658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solidFill>
                  <a:schemeClr val="bg1"/>
                </a:solidFill>
              </a:rPr>
              <a:t>Hybrid Retrieval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Combine keyword and vector search for better evidence retrieval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279392" y="4352544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4315968" y="430901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solidFill>
                  <a:schemeClr val="bg1"/>
                </a:solidFill>
              </a:rPr>
              <a:t>Reranking &amp; RAG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IN" sz="1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Rerank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evidence and generate citation-grounded answers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101584" y="4352544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8165592" y="430901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 err="1">
                <a:solidFill>
                  <a:schemeClr val="bg1"/>
                </a:solidFill>
              </a:rPr>
              <a:t>MLOps</a:t>
            </a:r>
            <a:r>
              <a:rPr lang="en-IN" sz="1600" dirty="0">
                <a:solidFill>
                  <a:schemeClr val="bg1"/>
                </a:solidFill>
              </a:rPr>
              <a:t> &amp; Deployment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Track experiments, version models, and deploy the system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57200" y="5193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25" y="5237317"/>
            <a:ext cx="223845" cy="22384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77824" y="51663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57200" y="5504688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45720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5%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" y="601675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&amp; MRR gain over frozen BGE/E5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46120" y="5504688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324612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400" dirty="0"/>
          </a:p>
        </p:txBody>
      </p:sp>
      <p:sp>
        <p:nvSpPr>
          <p:cNvPr id="36" name="Text 30"/>
          <p:cNvSpPr txBox="1"/>
          <p:nvPr/>
        </p:nvSpPr>
        <p:spPr>
          <a:xfrm>
            <a:off x="3355848" y="601675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with hybrid retrieval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035040" y="5504688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 txBox="1"/>
          <p:nvPr/>
        </p:nvSpPr>
        <p:spPr>
          <a:xfrm>
            <a:off x="603504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3%</a:t>
            </a:r>
            <a:endParaRPr lang="en-US" sz="2400" dirty="0"/>
          </a:p>
        </p:txBody>
      </p:sp>
      <p:sp>
        <p:nvSpPr>
          <p:cNvPr id="39" name="Text 33"/>
          <p:cNvSpPr txBox="1"/>
          <p:nvPr/>
        </p:nvSpPr>
        <p:spPr>
          <a:xfrm>
            <a:off x="6144768" y="601675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Unsupported-claim rate (grounded RAG)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8823960" y="5504688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 txBox="1"/>
          <p:nvPr/>
        </p:nvSpPr>
        <p:spPr>
          <a:xfrm>
            <a:off x="882396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400" dirty="0"/>
          </a:p>
        </p:txBody>
      </p:sp>
      <p:sp>
        <p:nvSpPr>
          <p:cNvPr id="42" name="Text 36"/>
          <p:cNvSpPr txBox="1"/>
          <p:nvPr/>
        </p:nvSpPr>
        <p:spPr>
          <a:xfrm>
            <a:off x="8933688" y="601675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— local RTX 5070 Ti only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937760" cy="4937760"/>
          </a:xfrm>
          <a:prstGeom prst="ellipse">
            <a:avLst/>
          </a:prstGeom>
          <a:solidFill>
            <a:srgbClr val="1C7293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66960" y="-1188720"/>
            <a:ext cx="2743200" cy="274320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10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AGENTIC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49981" y="55249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MARIS: A Multi-Agent AIOps System for Autonomous Incident Remediation with Confidence-Aware Hybrid Routing, Safety-Governed Execution, and Reflection-Based Recovery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1109960" y="384048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11" y="471099"/>
            <a:ext cx="447690" cy="447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7" y="1361012"/>
            <a:ext cx="4937759" cy="5475928"/>
          </a:xfrm>
          <a:prstGeom prst="roundRect">
            <a:avLst>
              <a:gd name="adj" fmla="val 2474"/>
            </a:avLst>
          </a:prstGeom>
          <a:solidFill>
            <a:srgbClr val="0F2B4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88620" y="1450077"/>
            <a:ext cx="555956" cy="56362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7" y="1497804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3740" y="1497804"/>
            <a:ext cx="4098340" cy="40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88037" y="2013700"/>
            <a:ext cx="4924043" cy="500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Slow MTTR</a:t>
            </a:r>
            <a:r>
              <a:rPr lang="en-IN" sz="17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7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Manual incident response takes hours; modern cloud failures need minute-level resolution.arxiv+1</a:t>
            </a:r>
          </a:p>
          <a:p>
            <a:pPr lvl="0"/>
            <a:endParaRPr lang="en-IN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700" b="1" dirty="0">
                <a:solidFill>
                  <a:schemeClr val="bg1"/>
                </a:solidFill>
              </a:rPr>
              <a:t>LLM-Only Routing</a:t>
            </a:r>
            <a:r>
              <a:rPr lang="en-IN" sz="17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7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40–60% higher costs, 2–5× slower latency for routine incidents.arxiv+1</a:t>
            </a:r>
          </a:p>
          <a:p>
            <a:pPr lvl="0"/>
            <a:endParaRPr lang="en-IN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700" b="1" dirty="0">
                <a:solidFill>
                  <a:schemeClr val="bg1"/>
                </a:solidFill>
              </a:rPr>
              <a:t>Safety Gap</a:t>
            </a:r>
            <a:r>
              <a:rPr lang="en-IN" sz="17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IN" sz="17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Autonomous remediation without enforceable policy checks can exceed namespace permissions, replica limits, or approved command scope.</a:t>
            </a:r>
          </a:p>
          <a:p>
            <a:pPr lvl="0"/>
            <a:r>
              <a:rPr lang="en-IN" sz="1700" b="1" dirty="0">
                <a:solidFill>
                  <a:schemeClr val="bg1"/>
                </a:solidFill>
              </a:rPr>
              <a:t>No Verification</a:t>
            </a:r>
            <a:r>
              <a:rPr lang="en-IN" sz="17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7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One-shot execution without reflection → 20–30% lower success on complex incidents.</a:t>
            </a:r>
          </a:p>
          <a:p>
            <a:pPr lvl="0"/>
            <a:endParaRPr lang="en-IN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1700" b="1" dirty="0">
                <a:solidFill>
                  <a:schemeClr val="bg1"/>
                </a:solidFill>
              </a:rPr>
              <a:t>Result</a:t>
            </a:r>
            <a:r>
              <a:rPr lang="en-IN" sz="17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7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60% AI adoption in self-healing, but &lt;10% autonomous deployment due to safety/compliance risks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14978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50992" y="2423160"/>
            <a:ext cx="0" cy="314553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468112" y="22402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5468112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089904" y="218541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Build a Labeled Incident Dataset</a:t>
            </a:r>
            <a:endParaRPr lang="en-US" sz="1350" dirty="0"/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 controlled Kubernetes incidents with alerts, logs, metrics, root causes, approved actions, and recovery outcomes.</a:t>
            </a:r>
            <a:endParaRPr lang="en-US" sz="13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468112" y="302666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5468112" y="3026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089904" y="29718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solidFill>
                  <a:schemeClr val="bg1"/>
                </a:solidFill>
              </a:rPr>
              <a:t>Establish Baseline Remediation Methods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Evaluate rule-based, classifier-only, and LLM-only remediation routing.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22" name="Shape 18"/>
          <p:cNvSpPr/>
          <p:nvPr/>
        </p:nvSpPr>
        <p:spPr>
          <a:xfrm>
            <a:off x="5468112" y="38130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5468112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089904" y="375818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Train Hybrid Router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Implements classifier-first routing for routine cases and LLM fallback for ambiguous cases.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468112" y="45994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 txBox="1"/>
          <p:nvPr/>
        </p:nvSpPr>
        <p:spPr>
          <a:xfrm>
            <a:off x="5468112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089904" y="454456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Enforce Safe Execution</a:t>
            </a:r>
            <a:endParaRPr lang="en-US" sz="1400" dirty="0">
              <a:solidFill>
                <a:srgbClr val="00B0F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Approve or reject proposed actions against blast-radius rules pre-execution.</a:t>
            </a:r>
          </a:p>
        </p:txBody>
      </p:sp>
      <p:sp>
        <p:nvSpPr>
          <p:cNvPr id="28" name="Shape 24"/>
          <p:cNvSpPr/>
          <p:nvPr/>
        </p:nvSpPr>
        <p:spPr>
          <a:xfrm>
            <a:off x="5468112" y="538581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 txBox="1"/>
          <p:nvPr/>
        </p:nvSpPr>
        <p:spPr>
          <a:xfrm>
            <a:off x="5468112" y="5385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089904" y="533095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Reflection Agent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400" dirty="0"/>
              <a:t>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Confirms whether the action restored service health; otherwise retries a safe alternative or escalates.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3108960" cy="3108960"/>
          </a:xfrm>
          <a:prstGeom prst="ellipse">
            <a:avLst/>
          </a:prstGeom>
          <a:solidFill>
            <a:srgbClr val="1C7293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10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AGENTIC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Stack &amp; Outcomes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109960" y="384048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11" y="471099"/>
            <a:ext cx="447690" cy="447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25" y="1341973"/>
            <a:ext cx="223845" cy="2238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7824" y="1271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1664208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500725" y="1810511"/>
            <a:ext cx="10883555" cy="1268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Public dataset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Use the 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PetShop Root Cause Analysis Dataset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from Amazon Science—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68 </a:t>
            </a:r>
            <a:r>
              <a:rPr lang="en-IN" sz="15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labeled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injected performance incidents</a:t>
            </a:r>
            <a:r>
              <a:rPr lang="en-US" sz="15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Synthetic dataset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Generate 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100–160 Kubernetes incident episodes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Safety set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Create </a:t>
            </a:r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40–60 policy test cases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with approved, denied, and escalation-required </a:t>
            </a:r>
            <a:r>
              <a:rPr lang="en-IN" sz="15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kubectl</a:t>
            </a:r>
            <a:r>
              <a:rPr lang="en-IN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actions (e.g., wrong namespace, delete request, replica-limit breach); use them to evaluate OPA safety enforcement and keep the complete dataset versioned using Git + DVC.</a:t>
            </a:r>
            <a:endParaRPr lang="en-US" sz="15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" y="3289645"/>
            <a:ext cx="223845" cy="2238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7824" y="32186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612647" y="3611880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Git + DVC + azure Blob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FB8D1"/>
                </a:solidFill>
              </a:rPr>
              <a:t>Code &amp; dataset versioning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279392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4439412" y="3566414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 err="1">
                <a:solidFill>
                  <a:schemeClr val="bg1"/>
                </a:solidFill>
              </a:rPr>
              <a:t>XGBoost</a:t>
            </a:r>
            <a:r>
              <a:rPr lang="en-IN" sz="1400" b="1" dirty="0">
                <a:solidFill>
                  <a:schemeClr val="bg1"/>
                </a:solidFill>
              </a:rPr>
              <a:t> + ONNX Runtime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Confidence-aware routing with fast CPU inference</a:t>
            </a:r>
            <a:endParaRPr lang="en-US" sz="1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101584" y="35661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8202168" y="3478838"/>
            <a:ext cx="3529584" cy="849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 + </a:t>
            </a:r>
            <a:r>
              <a:rPr lang="en-US" sz="1400" b="1" dirty="0">
                <a:solidFill>
                  <a:srgbClr val="FFFFFF"/>
                </a:solidFill>
              </a:rPr>
              <a:t>FastAPI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Stateful multi-agent workflow and API orchestration</a:t>
            </a:r>
            <a:r>
              <a:rPr lang="en-IN" sz="1400" dirty="0"/>
              <a:t>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34340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563358" y="4307404"/>
            <a:ext cx="3635898" cy="7836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>
                <a:solidFill>
                  <a:schemeClr val="bg1"/>
                </a:solidFill>
              </a:rPr>
              <a:t>Qwen 2.5 3B + </a:t>
            </a:r>
            <a:r>
              <a:rPr lang="en-IN" sz="1400" b="1" dirty="0" err="1">
                <a:solidFill>
                  <a:schemeClr val="bg1"/>
                </a:solidFill>
              </a:rPr>
              <a:t>Ollama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Quantized LLM fallback for ambiguous incident planning.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279392" y="4352544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4384800" y="4324096"/>
            <a:ext cx="33284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>
                <a:solidFill>
                  <a:schemeClr val="bg1"/>
                </a:solidFill>
              </a:rPr>
              <a:t>Prometheus + Grafana + OPA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Telemetry monitoring, recovery validation, and policy enforcement.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101584" y="4352544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8208645" y="4298551"/>
            <a:ext cx="3436056" cy="790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>
                <a:solidFill>
                  <a:schemeClr val="bg1"/>
                </a:solidFill>
              </a:rPr>
              <a:t>Docker + Kubernetes + Azure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Sandboxed execution, container deployment, Azure Blob/ACR, and  AKS.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57200" y="5193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25" y="5237317"/>
            <a:ext cx="223845" cy="22384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77824" y="51663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57200" y="5504688"/>
            <a:ext cx="2651760" cy="1344676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45720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>
                <a:solidFill>
                  <a:srgbClr val="00B0F0"/>
                </a:solidFill>
              </a:rPr>
              <a:t>≥75%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566928" y="6016752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400" b="1" dirty="0">
                <a:solidFill>
                  <a:srgbClr val="00B0F0"/>
                </a:solidFill>
              </a:rPr>
              <a:t>Routing Accuracy</a:t>
            </a:r>
            <a:b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Correct routing of supported routine incidents.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Shape 28"/>
          <p:cNvSpPr/>
          <p:nvPr/>
        </p:nvSpPr>
        <p:spPr>
          <a:xfrm>
            <a:off x="3218688" y="5513324"/>
            <a:ext cx="2651760" cy="1344676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324612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>
                <a:solidFill>
                  <a:srgbClr val="00B0F0"/>
                </a:solidFill>
              </a:rPr>
              <a:t>≥30%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3355848" y="6016752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400" b="1" dirty="0">
                <a:solidFill>
                  <a:srgbClr val="00B0F0"/>
                </a:solidFill>
              </a:rPr>
              <a:t>Lower Routing Latency</a:t>
            </a:r>
            <a:b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Faster than LLM-only remediation planning.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Shape 31"/>
          <p:cNvSpPr/>
          <p:nvPr/>
        </p:nvSpPr>
        <p:spPr>
          <a:xfrm>
            <a:off x="6035040" y="5504688"/>
            <a:ext cx="2761488" cy="1344676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 txBox="1"/>
          <p:nvPr/>
        </p:nvSpPr>
        <p:spPr>
          <a:xfrm>
            <a:off x="6035040" y="5577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>
                <a:solidFill>
                  <a:srgbClr val="00B0F0"/>
                </a:solidFill>
              </a:rPr>
              <a:t>100%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6144768" y="5953252"/>
            <a:ext cx="2542032" cy="905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400" b="1" dirty="0">
                <a:solidFill>
                  <a:srgbClr val="00B0F0"/>
                </a:solidFill>
              </a:rPr>
              <a:t>Unsafe Actions Blocked</a:t>
            </a:r>
            <a:b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OPA rejects deliberately unauthorized or high-risk actions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Shape 34"/>
          <p:cNvSpPr/>
          <p:nvPr/>
        </p:nvSpPr>
        <p:spPr>
          <a:xfrm>
            <a:off x="8823960" y="5504688"/>
            <a:ext cx="2752344" cy="1354328"/>
          </a:xfrm>
          <a:prstGeom prst="roundRect">
            <a:avLst>
              <a:gd name="adj" fmla="val 7843"/>
            </a:avLst>
          </a:prstGeom>
          <a:solidFill>
            <a:srgbClr val="0F2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 txBox="1"/>
          <p:nvPr/>
        </p:nvSpPr>
        <p:spPr>
          <a:xfrm>
            <a:off x="8796528" y="554126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>
                <a:solidFill>
                  <a:srgbClr val="00B0F0"/>
                </a:solidFill>
              </a:rPr>
              <a:t>≥70%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2" name="Text 36"/>
          <p:cNvSpPr txBox="1"/>
          <p:nvPr/>
        </p:nvSpPr>
        <p:spPr>
          <a:xfrm>
            <a:off x="8927211" y="5907024"/>
            <a:ext cx="258508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400" b="1" dirty="0">
                <a:solidFill>
                  <a:srgbClr val="00B0F0"/>
                </a:solidFill>
              </a:rPr>
              <a:t>Verified Recovery Rate</a:t>
            </a:r>
            <a:b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Supported Kubernetes incidents recovered or safely escalated after reflection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923</Words>
  <Application>Microsoft Office PowerPoint</Application>
  <PresentationFormat>Widescreen</PresentationFormat>
  <Paragraphs>127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ROHIT R</dc:creator>
  <cp:lastModifiedBy>Rohit R</cp:lastModifiedBy>
  <cp:revision>4</cp:revision>
  <dcterms:created xsi:type="dcterms:W3CDTF">2026-08-28T02:45:26Z</dcterms:created>
  <dcterms:modified xsi:type="dcterms:W3CDTF">2026-08-28T06:27:44Z</dcterms:modified>
</cp:coreProperties>
</file>